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6744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-1463040"/>
            <a:ext cx="4114800" cy="4114800"/>
          </a:xfrm>
          <a:prstGeom prst="ellipse">
            <a:avLst/>
          </a:prstGeom>
          <a:solidFill>
            <a:srgbClr val="2334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1645920" y="4846320"/>
            <a:ext cx="3657600" cy="3657600"/>
          </a:xfrm>
          <a:prstGeom prst="ellipse">
            <a:avLst/>
          </a:prstGeom>
          <a:solidFill>
            <a:srgbClr val="2334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fis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907999"/>
            <a:ext cx="744322" cy="74432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965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Phishing Awareness Analysis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Human Firewall: Detection, Red Flags &amp; Triage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4480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22960" y="4773168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sample emails and messages to identify phishing attempts, list red flags, and explain why each message is unsafe.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22960" y="6309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•  Cybersecurity Internship Series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modern security perimeter is no longer the network firewall — it is the user.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37160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1874520"/>
            <a:ext cx="10241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sample phishing emails and messages to identify suspicious links and keywords, 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the red flags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expose an attack, and </a:t>
            </a: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each message is unsafe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producing a practical triage toolkit that any employee can use.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REQUIREMENTS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icons/lin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403" y="3957523"/>
            <a:ext cx="405994" cy="40599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suspicious links or keywords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26480" y="388620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flag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7803" y="395752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0" y="3886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red flags found in phishing messages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40080" y="49377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icons/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403" y="5009083"/>
            <a:ext cx="405994" cy="40599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the message is unsafe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126480" y="4937760"/>
            <a:ext cx="548640" cy="54864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icons/list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7803" y="5009083"/>
            <a:ext cx="405994" cy="40599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58000" y="49377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a usable triage checklist &amp; decision tree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40080" y="576072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914400" y="57607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SKILLS:  Threat analysis  •  Awareness of cyber attacks  •  Security thinking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This Matters: The Human Firewall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firewalls cannot compensate for human error.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2374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80%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68680" y="28803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security breaches involve phishing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52544" y="169164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352544" y="1874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C9A94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40%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4581144" y="28803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employees fell for a simulated phishing &amp; vishing campaign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65008" y="1691640"/>
            <a:ext cx="3474720" cy="2194560"/>
          </a:xfrm>
          <a:prstGeom prst="roundRect">
            <a:avLst>
              <a:gd name="adj" fmla="val 416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65008" y="18745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82 sec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8293608" y="288036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for an attacker to get their first click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160520"/>
            <a:ext cx="10881360" cy="1965960"/>
          </a:xfrm>
          <a:prstGeom prst="roundRect">
            <a:avLst>
              <a:gd name="adj" fmla="val 4651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14400" y="4434840"/>
            <a:ext cx="822960" cy="822960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icons/usersecre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5" y="4541825"/>
            <a:ext cx="608990" cy="60899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920240" y="443484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Quanta Computer Exploit — $100M Stolen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920240" y="4846320"/>
            <a:ext cx="90525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attacker stole over $100 million from Google and Facebook — not through a zero-day exploit, but through highly targeted spear-phishing. By spoofing the domain of a legitimate Taiwanese hardware supplier (Quanta) and forging supporting invoices, the attacker bypassed finance department checks completely.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Analytical Framework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phishing attack breaks down into three parts: Input, Process, Output.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0" y="196596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envelop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78" y="206105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40080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Bait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14400" y="3657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delivery method and technical disguise phishing type and domain spoofing technique used.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069080" y="2743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>
            <a:off x="4352544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5724144" y="196596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icons/brain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242" y="2061058"/>
            <a:ext cx="541325" cy="54132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52544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352544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Psychology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4626864" y="3657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trigger that forces a user to bypass logical verification.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7781544" y="274320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3000" dirty="0"/>
          </a:p>
        </p:txBody>
      </p:sp>
      <p:sp>
        <p:nvSpPr>
          <p:cNvPr id="18" name="Shape 14"/>
          <p:cNvSpPr/>
          <p:nvPr/>
        </p:nvSpPr>
        <p:spPr>
          <a:xfrm>
            <a:off x="8065008" y="173736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436608" y="196596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icons/shield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706" y="2061058"/>
            <a:ext cx="541325" cy="5413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65008" y="28346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065008" y="315468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Defense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8339328" y="3657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triage decision and simulation/training response that closes the gap.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follows that structure — moving from how attacks are disguised, to why they work psychologically, to how to defend against them.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Input: The Hierarchy of Email Targeting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4937760" cy="566928"/>
          </a:xfrm>
          <a:prstGeom prst="rect">
            <a:avLst/>
          </a:prstGeom>
          <a:solidFill>
            <a:srgbClr val="8FA3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49377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Phishing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760720" y="1078992"/>
            <a:ext cx="5760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lures mimicking ubiquitous brands (Amazon, PayPal). High volume, low personalization roughly 1% engagement.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188720" y="1773936"/>
            <a:ext cx="3840480" cy="566928"/>
          </a:xfrm>
          <a:prstGeom prst="rect">
            <a:avLst/>
          </a:prstGeom>
          <a:solidFill>
            <a:srgbClr val="5164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88720" y="1773936"/>
            <a:ext cx="3840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Phishing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760720" y="1755648"/>
            <a:ext cx="5760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 precision. Attackers use OSINT (e.g. LinkedIn) to reference real project names, colleagues, or internal jargon.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737360" y="2450592"/>
            <a:ext cx="2743200" cy="566928"/>
          </a:xfrm>
          <a:prstGeom prst="rect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737360" y="245059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Whaling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760720" y="2432304"/>
            <a:ext cx="57607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the C-suite. Focuses on founders and executives to execute high-value wire transfers (BEC) or acquire M&amp;A documents.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BEYOND THE INBOX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0" descr="icons/sms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3905860"/>
            <a:ext cx="372161" cy="372161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Smishing (SMS)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40080" y="4754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links via text, often disguised as deliveries or bank alerts.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364992" y="3840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icons/phonevolume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30372" y="3905860"/>
            <a:ext cx="372161" cy="37216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64992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Vishing (Voice)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64992" y="4754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calls using caller-ID spoofing to impersonate IT support or officials.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89904" y="3840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icons/qrcode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284" y="3905860"/>
            <a:ext cx="372161" cy="37216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089904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Quishing (QR Codes)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6089904" y="4754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on posters/PDFs that push users to unmanaged mobile devices.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814816" y="384048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icons/search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0196" y="3905860"/>
            <a:ext cx="372161" cy="372161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8814816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 Phishing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814816" y="4754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poisoning that ranks lookalike sites above real login portals.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40080" y="5989320"/>
            <a:ext cx="10881360" cy="502920"/>
          </a:xfrm>
          <a:prstGeom prst="roundRect">
            <a:avLst>
              <a:gd name="adj" fmla="val 12727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5"/>
          <p:cNvSpPr/>
          <p:nvPr/>
        </p:nvSpPr>
        <p:spPr>
          <a:xfrm>
            <a:off x="914400" y="59893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Phishing (TOAD): an email with no malicious link at all — only a phone number to call, moving the attack off text-based filters entirely.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Input: Suspicious Links &amp; Domain Spoofing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attackers disguise a URL to look legitimate.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Typosquatting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3017520" cy="50292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2148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amaz0n.com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substituted for the letter 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52544" y="1600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81144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Homoglyph Attack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81144" y="2148840"/>
            <a:ext cx="3017520" cy="50292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72584" y="2148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pаypal.com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81144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Cyrillic “a” that is visually identical to Latin “a”.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65008" y="16002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93608" y="17373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Combosquatting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93608" y="2148840"/>
            <a:ext cx="3017520" cy="502920"/>
          </a:xfrm>
          <a:prstGeom prst="rect">
            <a:avLst/>
          </a:prstGeom>
          <a:solidFill>
            <a:srgbClr val="1118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85048" y="2148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yourcompany-secure-login.com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93608" y="274320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security-sounding word appended to a real brand.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566160"/>
            <a:ext cx="10881360" cy="1417320"/>
          </a:xfrm>
          <a:prstGeom prst="roundRect">
            <a:avLst>
              <a:gd name="adj" fmla="val 6452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Subdomain Trap — Read URLs Right to Left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144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FA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www.decodelabs.tech</a:t>
            </a:r>
            <a:r>
              <a:rPr lang="en-US" sz="1800" b="1" dirty="0">
                <a:solidFill>
                  <a:srgbClr val="E237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.login-update.com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" y="452628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true root domain (login-update.com) is buried after a fake, trusted-looking subdomain (decodelabs.tech).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16636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4400" y="5349240"/>
            <a:ext cx="640080" cy="640080"/>
          </a:xfrm>
          <a:prstGeom prst="ellipse">
            <a:avLst/>
          </a:prstGeom>
          <a:solidFill>
            <a:srgbClr val="C9A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0" descr="icons/search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5432450"/>
            <a:ext cx="473659" cy="473659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1737360" y="5349240"/>
            <a:ext cx="9509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Dangling DNS Takeover: </a:t>
            </a: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company deletes a cloud resource (e.g. an AWS S3 bucket) but forgets to remove the matching DNS record, an attacker can provision a new resource under that same trusted name.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Process: The Psychology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phishing message relies on a cognitive lever to make the target act before they verify.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11680"/>
            <a:ext cx="685800" cy="68580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university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554" y="2100834"/>
            <a:ext cx="507492" cy="5074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933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Authority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27889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Impersonating the C-suite, IT, or law enforcement to demand unquestioned compliance.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26480" y="173736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00800" y="2011680"/>
            <a:ext cx="685800" cy="685800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icons/cloc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954" y="2100834"/>
            <a:ext cx="507492" cy="50749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9339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Urgency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400800" y="278892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time pressure (“Account locked in 30 minutes”) triggers fight-or-flight, reducing rational processing.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14400" y="4114800"/>
            <a:ext cx="685800" cy="685800"/>
          </a:xfrm>
          <a:prstGeom prst="ellipse">
            <a:avLst/>
          </a:prstGeom>
          <a:solidFill>
            <a:srgbClr val="C9A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icons/search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554" y="4203954"/>
            <a:ext cx="507492" cy="5074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096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Curiosity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91440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Exploiting the need to fill a knowledge gap (“See what your colleague said about you”).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126480" y="3840480"/>
            <a:ext cx="5212080" cy="1874520"/>
          </a:xfrm>
          <a:prstGeom prst="roundRect">
            <a:avLst>
              <a:gd name="adj" fmla="val 4878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00800" y="4114800"/>
            <a:ext cx="685800" cy="6858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icons/greed_FFFFFF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9954" y="4203954"/>
            <a:ext cx="507492" cy="5074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4096512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Fear / Greed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400800" y="4892040"/>
            <a:ext cx="4663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Threatening consequences (legal action) or promising unearned rewards (prize giveaways).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Analysis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Fake Microsoft Sign-In Alert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Email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13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From: Microsoft Support
     &lt;support@logins-updates.com&gt;
Subject: FW: Urgent: Your Account
         Security Alert
[Forwarded thread — pasted headers,
 mismatched timestamps]
  Microsoft — Sign In
  Username or password
  [ Sign In ]
Attachments:
  Security_Update_2024.iso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IDENTIFIED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020824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8928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Sender-domain mismatch — display name says “Microsoft Support” but routes through logins-updates.com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587752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4597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forwarded chain  an “FW:” thread the user was never part of, used to fake legitimacy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3154680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02666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Browser-in-the-Browser (BitB) the sign-in box is a fake pop-up, not a real browser window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721608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5935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attachment  a .iso file, an uncommon extension used to smuggle malware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5623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CE8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5742432"/>
            <a:ext cx="548640" cy="548640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icons/ba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803" y="5813755"/>
            <a:ext cx="405994" cy="40599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5623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— Block sender domain &amp; escalate. Do not enter credentials or open the attachment.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Analysis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CEO Wire Transfer Request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SMS  •  Business Email Compromise (BEC)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13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  Today 9:47 AM
From: "CEO"
I lost my wallet at the airport.
Need you to wire transfer funds
for my flight immediately.
- CEO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IDENTIFIED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020824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8928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 + urgency stacked together  impersonates a senior exec, demands immediate financial action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587752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4597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Unverifiable channel  a bare SMS from an unsaved number, no secondary confirmation offered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3154680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02666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 request  implicitly asks the recipient to skip normal payment authorization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721608"/>
            <a:ext cx="128016" cy="128016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5935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engineered scenario (“lost wallet,” “immediately”) designed to short-circuit verification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5623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FCE8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5742432"/>
            <a:ext cx="548640" cy="548640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icons/ban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803" y="5813755"/>
            <a:ext cx="405994" cy="40599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5623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— Do not send funds. Verify by calling the executive on a known number first.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Analysis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Internal Status Update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170432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Channel: Email  •  Control example (safe)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5029200" cy="3931920"/>
          </a:xfrm>
          <a:prstGeom prst="roundRect">
            <a:avLst>
              <a:gd name="adj" fmla="val 1860"/>
            </a:avLst>
          </a:prstGeom>
          <a:solidFill>
            <a:srgbClr val="132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Sender: Project Manager
  &lt;sarah.lee@company.com&gt;
Subject: Q3 Project Status Update
         - Non-Urgent
Hi Team,
Please review the attached project
status for Q3 at your earliest
convenience.
No immediate action is required.
Thanks, Sarah.
Attachment: Q3_Status.pdf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600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FLAGS IDENTIFIED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0" y="2020824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1892808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Sender's display name matches the underlying domain (company.com)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43600" y="2587752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217920" y="2459736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urgency, secrecy, or bypass language  explicitly says no action required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943600" y="3154680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3026664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file type (.pdf) referenced by name, not disguised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943600" y="3721608"/>
            <a:ext cx="128016" cy="128016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17920" y="3593592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contextually consistent with the sender's known role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43600" y="5623560"/>
            <a:ext cx="5577840" cy="822960"/>
          </a:xfrm>
          <a:prstGeom prst="roundRect">
            <a:avLst>
              <a:gd name="adj" fmla="val 8889"/>
            </a:avLst>
          </a:prstGeom>
          <a:solidFill>
            <a:srgbClr val="E5F3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26480" y="5742432"/>
            <a:ext cx="548640" cy="54864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icons/chec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803" y="5813755"/>
            <a:ext cx="405994" cy="40599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58000" y="562356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— Close. No action needed beyond normal review.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Output: Red Flag Reference Checklist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signals to check when triaging any inbound message.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84708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84708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169164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Sender-Domain Mismatch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33672" y="169164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370832" y="184708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79392" y="184708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69164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Forwarded Chains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827264" y="169164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964424" y="184708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872984" y="184708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394192" y="169164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Browser-in-the-Browser (BitB)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77240" y="262432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62432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07008" y="246888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Dangerous Attachments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233672" y="246888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70832" y="262432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279392" y="262432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Bypass Requests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827264" y="246888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964424" y="262432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872984" y="262432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394192" y="246888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for Sensitive Info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324612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77240" y="340156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340156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07008" y="324612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Alerts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233672" y="324612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370832" y="340156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79392" y="340156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00600" y="324612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Fatigue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827264" y="324612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7964424" y="340156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72984" y="340156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394192" y="324612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Callback Scams (TOAD)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640080" y="402336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77240" y="417880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5800" y="417880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07008" y="402336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Prompts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233672" y="4023360"/>
            <a:ext cx="3410712" cy="640080"/>
          </a:xfrm>
          <a:prstGeom prst="roundRect">
            <a:avLst>
              <a:gd name="adj" fmla="val 1000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370832" y="4178808"/>
            <a:ext cx="329184" cy="329184"/>
          </a:xfrm>
          <a:prstGeom prst="ellipse">
            <a:avLst/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279392" y="4178808"/>
            <a:ext cx="512064" cy="32918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00600" y="4023360"/>
            <a:ext cx="2770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Deepfake Live-Meeting Fraud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Output: The Triage Decision Tree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triage event must end in one of three definitive actions.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261104" y="1600200"/>
            <a:ext cx="3657600" cy="594360"/>
          </a:xfrm>
          <a:prstGeom prst="roundRect">
            <a:avLst>
              <a:gd name="adj" fmla="val 12308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261104" y="16002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Incoming Suspicious Email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089904" y="219456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37360" y="2514600"/>
            <a:ext cx="8686800" cy="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37360" y="251460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089904" y="251460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424160" y="2514600"/>
            <a:ext cx="0" cy="32004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60120" y="28346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737360" y="3337560"/>
            <a:ext cx="0" cy="274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85800" y="36118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>
            <a:solidFill>
              <a:srgbClr val="2E7D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434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 verified, no urgency/bypass language, standard file types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12664" y="28346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C9A94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12664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089904" y="3337560"/>
            <a:ext cx="0" cy="274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038344" y="36118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>
            <a:solidFill>
              <a:srgbClr val="C9A9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38344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User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992624" y="4434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two mild red flags  plausible but unexpected request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9555480" y="2834640"/>
            <a:ext cx="1554480" cy="502920"/>
          </a:xfrm>
          <a:prstGeom prst="roundRect">
            <a:avLst>
              <a:gd name="adj" fmla="val 10909"/>
            </a:avLst>
          </a:prstGeom>
          <a:solidFill>
            <a:srgbClr val="E2374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555480" y="2834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10332720" y="3337560"/>
            <a:ext cx="0" cy="274320"/>
          </a:xfrm>
          <a:prstGeom prst="line">
            <a:avLst/>
          </a:prstGeom>
          <a:noFill/>
          <a:ln w="19050">
            <a:solidFill>
              <a:srgbClr val="9CA3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9281160" y="3611880"/>
            <a:ext cx="2103120" cy="685800"/>
          </a:xfrm>
          <a:prstGeom prst="roundRect">
            <a:avLst>
              <a:gd name="adj" fmla="val 8000"/>
            </a:avLst>
          </a:prstGeom>
          <a:solidFill>
            <a:srgbClr val="F4F6FB"/>
          </a:solidFill>
          <a:ln w="19050">
            <a:solidFill>
              <a:srgbClr val="E23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9281160" y="3611880"/>
            <a:ext cx="2103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Domain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E23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Escalate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235440" y="4434840"/>
            <a:ext cx="2240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clear red flags or confirmed spoof / dangerous attachment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5943600"/>
            <a:ext cx="10881360" cy="594360"/>
          </a:xfrm>
          <a:prstGeom prst="roundRect">
            <a:avLst>
              <a:gd name="adj" fmla="val 10769"/>
            </a:avLst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59436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when in doubt between two categories, always triage to the more cautious one.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Golden Rule of the Human Firewall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Pause. Verify. Report.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4F6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011680" y="2011680"/>
            <a:ext cx="731520" cy="731520"/>
          </a:xfrm>
          <a:prstGeom prst="ellipse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icons/pause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778" y="2106778"/>
            <a:ext cx="541325" cy="5413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1. Pause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914400" y="3429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the cognitive trigger (urgency, fear, authority) and stop interacting with the message. Apply the Five-Minute Rule.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4069080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352544" y="173736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724144" y="2011680"/>
            <a:ext cx="731520" cy="731520"/>
          </a:xfrm>
          <a:prstGeom prst="ellipse">
            <a:avLst/>
          </a:prstGeom>
          <a:solidFill>
            <a:srgbClr val="C9A94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icons/search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242" y="2106778"/>
            <a:ext cx="541325" cy="5413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52544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 Verify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26864" y="3429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request through a secondary, out-of-band channel e.g. verify an email request via phone to a known directory number.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7781544" y="3566160"/>
            <a:ext cx="457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»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065008" y="1737360"/>
            <a:ext cx="3474720" cy="4206240"/>
          </a:xfrm>
          <a:prstGeom prst="roundRect">
            <a:avLst>
              <a:gd name="adj" fmla="val 2632"/>
            </a:avLst>
          </a:prstGeom>
          <a:solidFill>
            <a:srgbClr val="F4F6F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9436608" y="2011680"/>
            <a:ext cx="731520" cy="73152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icons/flag_FFFFF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706" y="2106778"/>
            <a:ext cx="541325" cy="54132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65008" y="28803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A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3. Report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339328" y="342900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internal reporting mechanism. Don't just delete the email reporting lets security purge the threat from every inbox it reached.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1143000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334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241280" y="4572000"/>
            <a:ext cx="3657600" cy="3657600"/>
          </a:xfrm>
          <a:prstGeom prst="ellipse">
            <a:avLst/>
          </a:prstGeom>
          <a:solidFill>
            <a:srgbClr val="23345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" y="640080"/>
            <a:ext cx="914400" cy="914400"/>
          </a:xfrm>
          <a:prstGeom prst="ellipse">
            <a:avLst/>
          </a:prstGeom>
          <a:solidFill>
            <a:srgbClr val="2E7D5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icons/shield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75895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7373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98755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exploits the space between a technical control and a human reaction. Most attacks regardless of channel share a repeatable structure: a technical disguise (</a:t>
            </a:r>
            <a:r>
              <a:rPr lang="en-US" sz="1500" b="1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bait</a:t>
            </a:r>
            <a:r>
              <a:rPr lang="en-US" sz="150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 psychological trigger (</a:t>
            </a:r>
            <a:r>
              <a:rPr lang="en-US" sz="1500" b="1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manipulation</a:t>
            </a:r>
            <a:r>
              <a:rPr lang="en-US" sz="150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and a set of observable red flags (</a:t>
            </a:r>
            <a:r>
              <a:rPr lang="en-US" sz="1500" b="1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tell</a:t>
            </a:r>
            <a:r>
              <a:rPr lang="en-US" sz="1500" dirty="0">
                <a:solidFill>
                  <a:srgbClr val="CFE0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By checking sender domains, URLs, attachments, and request language against a consistent checklist and routing every message through the Safe / Suspicious / Malicious tree individual awareness becomes a scalable, organizational defense: the Human Firewall.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4846320"/>
            <a:ext cx="2926080" cy="0"/>
          </a:xfrm>
          <a:prstGeom prst="line">
            <a:avLst/>
          </a:prstGeom>
          <a:noFill/>
          <a:ln w="12700">
            <a:solidFill>
              <a:srgbClr val="3A4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22960" y="5074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9A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journey to becoming a professional security expert begins with the very first “phish” you catch today.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DecodeLabs  •  decodelabs.tech  •  decodelabs.tech@gmail.com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1604</Words>
  <Application>Microsoft Office PowerPoint</Application>
  <PresentationFormat>Widescreen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Bookman Old Style</vt:lpstr>
      <vt:lpstr>Calibri</vt:lpstr>
      <vt:lpstr>Consolas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lere mercy</cp:lastModifiedBy>
  <cp:revision>2</cp:revision>
  <dcterms:created xsi:type="dcterms:W3CDTF">2026-08-25T11:29:20Z</dcterms:created>
  <dcterms:modified xsi:type="dcterms:W3CDTF">2026-08-25T11:39:55Z</dcterms:modified>
</cp:coreProperties>
</file>